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"/>
  </p:notesMasterIdLst>
  <p:sldIdLst>
    <p:sldId id="11606" r:id="rId5"/>
    <p:sldId id="11609" r:id="rId17"/>
  </p:sldIdLst>
  <p:sldSz cx="18288000" cy="10287000"/>
  <p:notesSz cx="6858000" cy="9144000"/>
  <p:embeddedFontLst>
    <p:embeddedFont>
      <p:font typeface="Montserrat" panose="000005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6D"/>
    <a:srgbClr val="08428C"/>
    <a:srgbClr val="E9EEF2"/>
    <a:srgbClr val="43CEFF"/>
    <a:srgbClr val="D3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ED09F-0BC4-4122-AB39-F9335DA1C558}" v="9" dt="2025-03-26T13:59:18.597"/>
    <p1510:client id="{F519E40D-1680-4A43-8F86-2E3FF1D3CD82}" v="10" dt="2025-03-26T10:22:36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78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Relationship Id="rId17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5E108-0DD1-475C-8568-2B9ABDE2246D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7D637-CF7B-45AC-A4F1-323A68A340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12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D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167F21-0A33-4581-A675-0B163610BFA5}"/>
              </a:ext>
            </a:extLst>
          </p:cNvPr>
          <p:cNvSpPr/>
          <p:nvPr userDrawn="1"/>
        </p:nvSpPr>
        <p:spPr>
          <a:xfrm>
            <a:off x="-1" y="0"/>
            <a:ext cx="7013864" cy="10287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B52B7-24E5-4C2F-B755-35C61C311DAD}"/>
              </a:ext>
            </a:extLst>
          </p:cNvPr>
          <p:cNvSpPr txBox="1"/>
          <p:nvPr userDrawn="1"/>
        </p:nvSpPr>
        <p:spPr>
          <a:xfrm>
            <a:off x="17333674" y="9384520"/>
            <a:ext cx="315791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29A7B74-24C6-4C1D-AC24-988B454BF4AA}" type="slidenum">
              <a:rPr lang="fr-FR" sz="1350" noProof="0" smtClean="0">
                <a:solidFill>
                  <a:schemeClr val="tx1"/>
                </a:solidFill>
              </a:rPr>
              <a:pPr algn="r"/>
              <a:t>‹N°›</a:t>
            </a:fld>
            <a:endParaRPr lang="fr-FR" sz="1350" noProof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2E5A9E-E516-48DA-B76A-4B17CC6B14DC}"/>
              </a:ext>
            </a:extLst>
          </p:cNvPr>
          <p:cNvCxnSpPr>
            <a:cxnSpLocks/>
          </p:cNvCxnSpPr>
          <p:nvPr userDrawn="1"/>
        </p:nvCxnSpPr>
        <p:spPr>
          <a:xfrm>
            <a:off x="17802000" y="9488391"/>
            <a:ext cx="486000" cy="0"/>
          </a:xfrm>
          <a:prstGeom prst="line">
            <a:avLst/>
          </a:prstGeom>
          <a:ln cap="flat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09DBBA-1389-40AE-89C8-E26343DBF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3534" y="1119655"/>
            <a:ext cx="3672000" cy="108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rgbClr val="08428C"/>
                </a:solidFill>
              </a:defRPr>
            </a:lvl1pPr>
          </a:lstStyle>
          <a:p>
            <a:r>
              <a:rPr lang="fr-FR" noProof="0"/>
              <a:t>Titre de slide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88BFA006-BF34-46C7-BE62-5F1140C70AF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583535" y="3669201"/>
            <a:ext cx="4860000" cy="81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8E1AB1C3-1871-43F3-A747-04CE5CE01289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1583534" y="5277489"/>
            <a:ext cx="4859999" cy="81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0D63909B-2519-411F-954F-FA8271A6804D}"/>
              </a:ext>
            </a:extLst>
          </p:cNvPr>
          <p:cNvSpPr>
            <a:spLocks noGrp="1"/>
          </p:cNvSpPr>
          <p:nvPr userDrawn="1">
            <p:ph type="body" sz="quarter" idx="40"/>
          </p:nvPr>
        </p:nvSpPr>
        <p:spPr>
          <a:xfrm>
            <a:off x="1583534" y="6897101"/>
            <a:ext cx="4860000" cy="178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101" name="Text Placeholder 10">
            <a:extLst>
              <a:ext uri="{FF2B5EF4-FFF2-40B4-BE49-F238E27FC236}">
                <a16:creationId xmlns:a16="http://schemas.microsoft.com/office/drawing/2014/main" id="{D9C341CA-9A83-4ED7-8F4E-3064F1C5722C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7405475" y="3233443"/>
            <a:ext cx="9298524" cy="852328"/>
          </a:xfrm>
          <a:prstGeom prst="roundRect">
            <a:avLst>
              <a:gd name="adj" fmla="val 3843"/>
            </a:avLst>
          </a:prstGeom>
          <a:solidFill>
            <a:schemeClr val="bg1"/>
          </a:solidFill>
          <a:effectLst>
            <a:outerShdw blurRad="254000" algn="ctr" rotWithShape="0">
              <a:prstClr val="black">
                <a:alpha val="15000"/>
              </a:prstClr>
            </a:outerShdw>
          </a:effectLst>
        </p:spPr>
        <p:txBody>
          <a:bodyPr wrap="square" lIns="216000" tIns="144000" rIns="216000" bIns="144000">
            <a:spAutoFit/>
          </a:bodyPr>
          <a:lstStyle>
            <a:lvl1pPr marL="0" indent="0">
              <a:lnSpc>
                <a:spcPct val="120000"/>
              </a:lnSpc>
              <a:spcBef>
                <a:spcPts val="900"/>
              </a:spcBef>
              <a:spcAft>
                <a:spcPts val="450"/>
              </a:spcAft>
              <a:buNone/>
              <a:defRPr sz="1500" b="1">
                <a:solidFill>
                  <a:srgbClr val="002A6D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257189" indent="-257189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›"/>
              <a:defRPr sz="1350"/>
            </a:lvl3pPr>
            <a:lvl4pPr marL="2057504" indent="0">
              <a:buNone/>
              <a:defRPr/>
            </a:lvl4pPr>
            <a:lvl5pPr marL="2743337" indent="0">
              <a:buNone/>
              <a:defRPr/>
            </a:lvl5pPr>
          </a:lstStyle>
          <a:p>
            <a:pPr lvl="0"/>
            <a:r>
              <a:rPr lang="fr-FR" noProof="0"/>
              <a:t>Intitulé de poste</a:t>
            </a:r>
          </a:p>
          <a:p>
            <a:pPr lvl="1"/>
            <a:r>
              <a:rPr lang="fr-FR" noProof="0"/>
              <a:t>Description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1EC91A43-4E8F-4E38-87FC-88FC8EE43BBD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7405475" y="4680397"/>
            <a:ext cx="9298524" cy="852328"/>
          </a:xfrm>
          <a:prstGeom prst="roundRect">
            <a:avLst>
              <a:gd name="adj" fmla="val 3843"/>
            </a:avLst>
          </a:prstGeom>
          <a:solidFill>
            <a:schemeClr val="bg1"/>
          </a:solidFill>
          <a:effectLst>
            <a:outerShdw blurRad="254000" algn="ctr" rotWithShape="0">
              <a:prstClr val="black">
                <a:alpha val="15000"/>
              </a:prstClr>
            </a:outerShdw>
          </a:effectLst>
        </p:spPr>
        <p:txBody>
          <a:bodyPr wrap="square" lIns="216000" tIns="144000" rIns="216000" bIns="144000">
            <a:spAutoFit/>
          </a:bodyPr>
          <a:lstStyle>
            <a:lvl1pPr marL="0" indent="0">
              <a:lnSpc>
                <a:spcPct val="120000"/>
              </a:lnSpc>
              <a:spcBef>
                <a:spcPts val="900"/>
              </a:spcBef>
              <a:spcAft>
                <a:spcPts val="450"/>
              </a:spcAft>
              <a:buNone/>
              <a:defRPr sz="1500" b="1">
                <a:solidFill>
                  <a:srgbClr val="002A6D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257189" indent="-257189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›"/>
              <a:defRPr sz="1350"/>
            </a:lvl3pPr>
            <a:lvl4pPr marL="2057504" indent="0">
              <a:buNone/>
              <a:defRPr/>
            </a:lvl4pPr>
            <a:lvl5pPr marL="2743337" indent="0">
              <a:buNone/>
              <a:defRPr/>
            </a:lvl5pPr>
          </a:lstStyle>
          <a:p>
            <a:pPr lvl="0"/>
            <a:r>
              <a:rPr lang="fr-FR" noProof="0"/>
              <a:t>Intitulé de poste</a:t>
            </a:r>
          </a:p>
          <a:p>
            <a:pPr lvl="1"/>
            <a:r>
              <a:rPr lang="fr-FR" noProof="0"/>
              <a:t>Description</a:t>
            </a:r>
          </a:p>
        </p:txBody>
      </p:sp>
      <p:sp>
        <p:nvSpPr>
          <p:cNvPr id="108" name="Text Placeholder 10">
            <a:extLst>
              <a:ext uri="{FF2B5EF4-FFF2-40B4-BE49-F238E27FC236}">
                <a16:creationId xmlns:a16="http://schemas.microsoft.com/office/drawing/2014/main" id="{AB402F50-D241-422A-ACE5-0FC49EDD861B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7405475" y="6127351"/>
            <a:ext cx="9298524" cy="852328"/>
          </a:xfrm>
          <a:prstGeom prst="roundRect">
            <a:avLst>
              <a:gd name="adj" fmla="val 3843"/>
            </a:avLst>
          </a:prstGeom>
          <a:solidFill>
            <a:schemeClr val="bg1"/>
          </a:solidFill>
          <a:effectLst>
            <a:outerShdw blurRad="254000" algn="ctr" rotWithShape="0">
              <a:prstClr val="black">
                <a:alpha val="15000"/>
              </a:prstClr>
            </a:outerShdw>
          </a:effectLst>
        </p:spPr>
        <p:txBody>
          <a:bodyPr wrap="square" lIns="216000" tIns="144000" rIns="216000" bIns="144000">
            <a:spAutoFit/>
          </a:bodyPr>
          <a:lstStyle>
            <a:lvl1pPr marL="0" indent="0">
              <a:lnSpc>
                <a:spcPct val="120000"/>
              </a:lnSpc>
              <a:spcBef>
                <a:spcPts val="900"/>
              </a:spcBef>
              <a:spcAft>
                <a:spcPts val="450"/>
              </a:spcAft>
              <a:buNone/>
              <a:defRPr sz="1500" b="1">
                <a:solidFill>
                  <a:srgbClr val="002A6D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257189" indent="-257189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›"/>
              <a:defRPr sz="1350"/>
            </a:lvl3pPr>
            <a:lvl4pPr marL="2057504" indent="0">
              <a:buNone/>
              <a:defRPr/>
            </a:lvl4pPr>
            <a:lvl5pPr marL="2743337" indent="0">
              <a:buNone/>
              <a:defRPr/>
            </a:lvl5pPr>
          </a:lstStyle>
          <a:p>
            <a:pPr lvl="0"/>
            <a:r>
              <a:rPr lang="fr-FR" noProof="0"/>
              <a:t>Intitulé de poste</a:t>
            </a:r>
          </a:p>
          <a:p>
            <a:pPr lvl="1"/>
            <a:r>
              <a:rPr lang="fr-FR" noProof="0"/>
              <a:t>Description</a:t>
            </a:r>
          </a:p>
        </p:txBody>
      </p:sp>
      <p:sp>
        <p:nvSpPr>
          <p:cNvPr id="109" name="Text Placeholder 10">
            <a:extLst>
              <a:ext uri="{FF2B5EF4-FFF2-40B4-BE49-F238E27FC236}">
                <a16:creationId xmlns:a16="http://schemas.microsoft.com/office/drawing/2014/main" id="{13ABDC62-6902-44A6-BEDA-72FBF67558BA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7405475" y="7574303"/>
            <a:ext cx="9298524" cy="852328"/>
          </a:xfrm>
          <a:prstGeom prst="roundRect">
            <a:avLst>
              <a:gd name="adj" fmla="val 3843"/>
            </a:avLst>
          </a:prstGeom>
          <a:solidFill>
            <a:schemeClr val="bg1"/>
          </a:solidFill>
          <a:effectLst>
            <a:outerShdw blurRad="254000" algn="ctr" rotWithShape="0">
              <a:prstClr val="black">
                <a:alpha val="15000"/>
              </a:prstClr>
            </a:outerShdw>
          </a:effectLst>
        </p:spPr>
        <p:txBody>
          <a:bodyPr wrap="square" lIns="216000" tIns="144000" rIns="216000" bIns="144000">
            <a:spAutoFit/>
          </a:bodyPr>
          <a:lstStyle>
            <a:lvl1pPr marL="0" indent="0">
              <a:lnSpc>
                <a:spcPct val="120000"/>
              </a:lnSpc>
              <a:spcBef>
                <a:spcPts val="900"/>
              </a:spcBef>
              <a:spcAft>
                <a:spcPts val="450"/>
              </a:spcAft>
              <a:buNone/>
              <a:defRPr sz="1500" b="1">
                <a:solidFill>
                  <a:srgbClr val="002A6D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257189" indent="-257189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›"/>
              <a:defRPr sz="1350"/>
            </a:lvl3pPr>
            <a:lvl4pPr marL="2057504" indent="0">
              <a:buNone/>
              <a:defRPr/>
            </a:lvl4pPr>
            <a:lvl5pPr marL="2743337" indent="0">
              <a:buNone/>
              <a:defRPr/>
            </a:lvl5pPr>
          </a:lstStyle>
          <a:p>
            <a:pPr lvl="0"/>
            <a:r>
              <a:rPr lang="fr-FR" noProof="0"/>
              <a:t>Intitulé de poste</a:t>
            </a:r>
          </a:p>
          <a:p>
            <a:pPr lvl="1"/>
            <a:r>
              <a:rPr lang="fr-FR" noProof="0"/>
              <a:t>Description</a:t>
            </a:r>
          </a:p>
        </p:txBody>
      </p:sp>
      <p:sp>
        <p:nvSpPr>
          <p:cNvPr id="110" name="Picture Placeholder 42">
            <a:extLst>
              <a:ext uri="{FF2B5EF4-FFF2-40B4-BE49-F238E27FC236}">
                <a16:creationId xmlns:a16="http://schemas.microsoft.com/office/drawing/2014/main" id="{0484F7F3-F1EA-4E54-AE5E-BD5EDB3EF8FE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4934197" y="1012622"/>
            <a:ext cx="1609832" cy="1296000"/>
          </a:xfrm>
          <a:custGeom>
            <a:avLst/>
            <a:gdLst>
              <a:gd name="connsiteX0" fmla="*/ 0 w 1897718"/>
              <a:gd name="connsiteY0" fmla="*/ 0 h 1527765"/>
              <a:gd name="connsiteX1" fmla="*/ 1134366 w 1897718"/>
              <a:gd name="connsiteY1" fmla="*/ 0 h 1527765"/>
              <a:gd name="connsiteX2" fmla="*/ 1882736 w 1897718"/>
              <a:gd name="connsiteY2" fmla="*/ 609887 h 1527765"/>
              <a:gd name="connsiteX3" fmla="*/ 1897718 w 1897718"/>
              <a:gd name="connsiteY3" fmla="*/ 758621 h 1527765"/>
              <a:gd name="connsiteX4" fmla="*/ 1897718 w 1897718"/>
              <a:gd name="connsiteY4" fmla="*/ 769144 h 1527765"/>
              <a:gd name="connsiteX5" fmla="*/ 1882736 w 1897718"/>
              <a:gd name="connsiteY5" fmla="*/ 917879 h 1527765"/>
              <a:gd name="connsiteX6" fmla="*/ 1134366 w 1897718"/>
              <a:gd name="connsiteY6" fmla="*/ 1527765 h 1527765"/>
              <a:gd name="connsiteX7" fmla="*/ 813535 w 1897718"/>
              <a:gd name="connsiteY7" fmla="*/ 1527765 h 152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7718" h="1527765">
                <a:moveTo>
                  <a:pt x="0" y="0"/>
                </a:moveTo>
                <a:lnTo>
                  <a:pt x="1134366" y="0"/>
                </a:lnTo>
                <a:cubicBezTo>
                  <a:pt x="1503655" y="0"/>
                  <a:pt x="1811536" y="261720"/>
                  <a:pt x="1882736" y="609887"/>
                </a:cubicBezTo>
                <a:lnTo>
                  <a:pt x="1897718" y="758621"/>
                </a:lnTo>
                <a:lnTo>
                  <a:pt x="1897718" y="769144"/>
                </a:lnTo>
                <a:lnTo>
                  <a:pt x="1882736" y="917879"/>
                </a:lnTo>
                <a:cubicBezTo>
                  <a:pt x="1811536" y="1266046"/>
                  <a:pt x="1503655" y="1527765"/>
                  <a:pt x="1134366" y="1527765"/>
                </a:cubicBezTo>
                <a:lnTo>
                  <a:pt x="813535" y="1527765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36000" tIns="108000" rIns="36000" bIns="108000">
            <a:noAutofit/>
          </a:bodyPr>
          <a:lstStyle>
            <a:lvl1pPr marL="0" indent="0" algn="ctr">
              <a:buNone/>
              <a:defRPr sz="1800" b="0" i="1">
                <a:solidFill>
                  <a:schemeClr val="accent3"/>
                </a:solidFill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95A38A1-E81B-A124-7A12-F620840485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05473" y="1070559"/>
            <a:ext cx="92985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800" b="1">
                <a:solidFill>
                  <a:srgbClr val="002A6D"/>
                </a:solidFill>
              </a:defRPr>
            </a:lvl1pPr>
          </a:lstStyle>
          <a:p>
            <a:pPr lvl="0"/>
            <a:r>
              <a:rPr lang="fr-FR" noProof="0"/>
              <a:t>Compétences clés</a:t>
            </a:r>
          </a:p>
        </p:txBody>
      </p:sp>
      <p:pic>
        <p:nvPicPr>
          <p:cNvPr id="14" name="Image 13" descr="Une image contenant Graphique, symbole&#10;&#10;Description générée automatiquement">
            <a:extLst>
              <a:ext uri="{FF2B5EF4-FFF2-40B4-BE49-F238E27FC236}">
                <a16:creationId xmlns:a16="http://schemas.microsoft.com/office/drawing/2014/main" id="{9846829F-7575-220F-1DB6-68AA9E5B7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9" y="369381"/>
            <a:ext cx="625758" cy="534243"/>
          </a:xfrm>
          <a:prstGeom prst="rect">
            <a:avLst/>
          </a:prstGeom>
        </p:spPr>
      </p:pic>
      <p:pic>
        <p:nvPicPr>
          <p:cNvPr id="16" name="Image 15" descr="Une image contenant Police, texte, logo, Graphique&#10;&#10;Description générée automatiquement">
            <a:extLst>
              <a:ext uri="{FF2B5EF4-FFF2-40B4-BE49-F238E27FC236}">
                <a16:creationId xmlns:a16="http://schemas.microsoft.com/office/drawing/2014/main" id="{E250371E-0B7A-763E-8146-30E47D0420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45" b="26005"/>
          <a:stretch/>
        </p:blipFill>
        <p:spPr>
          <a:xfrm>
            <a:off x="15132115" y="389385"/>
            <a:ext cx="3155888" cy="514239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0D63AAA-660E-C40A-5A90-4196F0EEC47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583534" y="4870182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800" b="1">
                <a:solidFill>
                  <a:srgbClr val="002A6D"/>
                </a:solidFill>
              </a:defRPr>
            </a:lvl1pPr>
          </a:lstStyle>
          <a:p>
            <a:pPr lvl="0"/>
            <a:r>
              <a:rPr lang="fr-FR" noProof="0"/>
              <a:t>Outils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BE9AACB-C4B5-5EB7-191B-B95E73C3E0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83534" y="6496440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800" b="1">
                <a:solidFill>
                  <a:srgbClr val="002A6D"/>
                </a:solidFill>
              </a:defRPr>
            </a:lvl1pPr>
          </a:lstStyle>
          <a:p>
            <a:pPr lvl="0"/>
            <a:r>
              <a:rPr lang="fr-FR" noProof="0"/>
              <a:t>Savoir faire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207E1BA0-6428-A883-E4C1-5136C9564D7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7419051" y="1471860"/>
            <a:ext cx="9298524" cy="81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4B7FF1B-2A52-17E8-D44F-953498DF2ED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83405" y="3262464"/>
            <a:ext cx="4860131" cy="370797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02A6D"/>
                </a:solidFill>
              </a:defRPr>
            </a:lvl1pPr>
            <a:lvl2pPr>
              <a:defRPr sz="1800" b="1">
                <a:solidFill>
                  <a:srgbClr val="002A6D"/>
                </a:solidFill>
              </a:defRPr>
            </a:lvl2pPr>
            <a:lvl3pPr>
              <a:defRPr sz="1800" b="1">
                <a:solidFill>
                  <a:srgbClr val="002A6D"/>
                </a:solidFill>
              </a:defRPr>
            </a:lvl3pPr>
            <a:lvl4pPr>
              <a:defRPr sz="1800" b="1">
                <a:solidFill>
                  <a:srgbClr val="002A6D"/>
                </a:solidFill>
              </a:defRPr>
            </a:lvl4pPr>
            <a:lvl5pPr>
              <a:defRPr sz="1800" b="1">
                <a:solidFill>
                  <a:srgbClr val="002A6D"/>
                </a:solidFill>
              </a:defRPr>
            </a:lvl5pPr>
          </a:lstStyle>
          <a:p>
            <a:pPr lvl="0"/>
            <a:r>
              <a:rPr lang="fr-FR"/>
              <a:t>Formation</a:t>
            </a:r>
          </a:p>
        </p:txBody>
      </p:sp>
    </p:spTree>
    <p:extLst>
      <p:ext uri="{BB962C8B-B14F-4D97-AF65-F5344CB8AC3E}">
        <p14:creationId xmlns:p14="http://schemas.microsoft.com/office/powerpoint/2010/main" val="269786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4FFB-8EF2-5AFD-D824-34E8AEFC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57C653-9F9C-4DA7-A674-55FB130512D9}"/>
              </a:ext>
            </a:extLst>
          </p:cNvPr>
          <p:cNvSpPr/>
          <p:nvPr/>
        </p:nvSpPr>
        <p:spPr>
          <a:xfrm>
            <a:off x="0" y="0"/>
            <a:ext cx="6025416" cy="10287000"/>
          </a:xfrm>
          <a:prstGeom prst="rect">
            <a:avLst/>
          </a:prstGeom>
          <a:solidFill>
            <a:srgbClr val="0842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8B41FA-34C6-4572-B2EC-7B5F388D0D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0599" y="3020815"/>
            <a:ext cx="5784217" cy="1873045"/>
          </a:xfrm>
        </p:spPr>
        <p:txBody>
          <a:bodyPr/>
          <a:lstStyle/>
          <a:p>
            <a:r>
              <a:rPr lang="fr-FR" sz="1800" dirty="0" b="1">
                <a:solidFill>
                  <a:schemeClr val="bg1"/>
                </a:solidFill>
                <a:latin typeface="+mn-lt"/>
              </a:rPr>
              <a:t>FORMATION</a:t>
            </a:r>
          </a:p>
          <a:p>
            <a:endParaRPr lang="fr-FR" sz="1800" b="1" dirty="0">
              <a:solidFill>
                <a:schemeClr val="bg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Master 2 - Audit &amp; Contrôle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Certificat Formation Assurance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Licence Gestion Finance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BD4D85-21A1-2A65-C690-1BFD7E24AEF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41200" y="5243720"/>
            <a:ext cx="4859999" cy="2120261"/>
          </a:xfrm>
        </p:spPr>
        <p:txBody>
          <a:bodyPr/>
          <a:lstStyle/>
          <a:p>
            <a:r>
              <a:rPr lang="fr-FR" sz="1800" dirty="0" b="1">
                <a:solidFill>
                  <a:schemeClr val="bg1"/>
                </a:solidFill>
                <a:latin typeface="+mn-lt"/>
              </a:rPr>
              <a:t>OUTILS MAITRISES</a:t>
            </a:r>
          </a:p>
          <a:p>
            <a:endParaRPr lang="fr-FR" sz="1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Excel avancé /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Power BI (débutant) / VBA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SAP SEM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3A0FE2-5845-8D12-8D37-7FA74EC069A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41199" y="7429840"/>
            <a:ext cx="4860000" cy="2120261"/>
          </a:xfrm>
        </p:spPr>
        <p:txBody>
          <a:bodyPr/>
          <a:lstStyle/>
          <a:p>
            <a:endParaRPr lang="fr-FR" sz="1800" b="1" dirty="0">
              <a:solidFill>
                <a:schemeClr val="bg1"/>
              </a:solidFill>
            </a:endParaRPr>
          </a:p>
          <a:p>
            <a:r>
              <a:rPr lang="fr-FR" sz="1800" dirty="0" b="1">
                <a:solidFill>
                  <a:schemeClr val="bg1"/>
                </a:solidFill>
                <a:latin typeface="+mn-lt"/>
              </a:rPr>
              <a:t>APTITUDES</a:t>
            </a:r>
          </a:p>
          <a:p>
            <a:endParaRPr lang="fr-FR" sz="1350" dirty="0">
              <a:solidFill>
                <a:schemeClr val="bg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Rigueur et sens du détail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Esprit analytique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Travail en équipe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FB6A9D1-342A-0A58-FDF0-5388674B700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259025" y="394874"/>
            <a:ext cx="9298524" cy="369332"/>
          </a:xfrm>
        </p:spPr>
        <p:txBody>
          <a:bodyPr/>
          <a:lstStyle/>
          <a:p>
            <a:r>
              <a:rPr lang="fr-FR" dirty="0"/>
              <a:t>COMPETENCES CLÉS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78CE8FF-1A37-590C-3C6D-16E3A8BB53F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53387" y="842853"/>
            <a:ext cx="10921880" cy="50488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sz="1300" dirty="0" b="1">
                <a:solidFill>
                  <a:srgbClr val="43CEFF"/>
                </a:solidFill>
                <a:latin typeface="+mn-lt"/>
              </a:rPr>
              <a:t>Contrôle interne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1300" dirty="0" b="1">
                <a:solidFill>
                  <a:srgbClr val="43CEFF"/>
                </a:solidFill>
                <a:latin typeface="+mn-lt"/>
              </a:rPr>
              <a:t>Analyse des risques Reporting financier</a:t>
            </a:r>
          </a:p>
          <a:p>
            <a:pPr marL="0" indent="0">
              <a:spcBef>
                <a:spcPts val="0"/>
              </a:spcBef>
              <a:buNone/>
            </a:pPr>
            <a:endParaRPr lang="fr-FR" sz="1350" b="1" dirty="0">
              <a:solidFill>
                <a:srgbClr val="43CEFF"/>
              </a:solidFill>
            </a:endParaRPr>
          </a:p>
        </p:txBody>
      </p:sp>
      <p:pic>
        <p:nvPicPr>
          <p:cNvPr id="9" name="Image 8" descr="Une image contenant Graphique, symbole&#10;&#10;Description générée automatiquement">
            <a:extLst>
              <a:ext uri="{FF2B5EF4-FFF2-40B4-BE49-F238E27FC236}">
                <a16:creationId xmlns:a16="http://schemas.microsoft.com/office/drawing/2014/main" id="{FD3C5F65-2C6D-41D8-4E1C-DA29149430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9" y="369381"/>
            <a:ext cx="625758" cy="534243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14641567-B85D-FD37-99D7-5684BE1C8802}"/>
              </a:ext>
            </a:extLst>
          </p:cNvPr>
          <p:cNvSpPr txBox="1">
            <a:spLocks/>
          </p:cNvSpPr>
          <p:nvPr/>
        </p:nvSpPr>
        <p:spPr>
          <a:xfrm>
            <a:off x="241199" y="1366942"/>
            <a:ext cx="5684115" cy="143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rgbClr val="08428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000" dirty="0">
                <a:solidFill>
                  <a:schemeClr val="bg1"/>
                </a:solidFill>
                <a:latin typeface="+mn-lt"/>
              </a:rPr>
              <a:t>Farah</a:t>
            </a:r>
          </a:p>
          <a:p>
            <a:pPr algn="l"/>
            <a:r>
              <a:rPr lang="fr-FR" sz="2000" dirty="0">
                <a:solidFill>
                  <a:schemeClr val="bg1"/>
                </a:solidFill>
                <a:latin typeface="+mn-lt"/>
              </a:rPr>
              <a:t>Analyste Audit &amp; Conformité (1/2)</a:t>
            </a:r>
            <a:endParaRPr lang="fr-FR" sz="5400" dirty="0">
              <a:solidFill>
                <a:schemeClr val="bg1"/>
              </a:solidFill>
              <a:latin typeface="+mn-lt"/>
            </a:endParaRPr>
          </a:p>
          <a:p>
            <a:pPr algn="l"/>
            <a:r>
              <a:rPr lang="fr-FR" sz="1600" dirty="0" i="1">
                <a:solidFill>
                  <a:srgbClr val="43CEFF"/>
                </a:solidFill>
                <a:latin typeface="+mn-lt"/>
              </a:rPr>
              <a:t>3 ans d'expériences en Analyste Audit &amp; Conformité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7E33102-1947-25A2-0A3D-A2FF199B7688}"/>
              </a:ext>
            </a:extLst>
          </p:cNvPr>
          <p:cNvGrpSpPr/>
          <p:nvPr/>
        </p:nvGrpSpPr>
        <p:grpSpPr>
          <a:xfrm>
            <a:off x="7042890" y="1443789"/>
            <a:ext cx="10617312" cy="323165"/>
            <a:chOff x="7042890" y="1443789"/>
            <a:chExt cx="10617312" cy="323165"/>
          </a:xfrm>
        </p:grpSpPr>
        <p:pic>
          <p:nvPicPr>
            <p:cNvPr id="31" name="Image 30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CFAD0449-7DBD-1090-B341-BC10C44A8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2890" y="1496086"/>
              <a:ext cx="248601" cy="212244"/>
            </a:xfrm>
            <a:prstGeom prst="rect">
              <a:avLst/>
            </a:prstGeom>
          </p:spPr>
        </p:pic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983C753A-C171-E329-BD8B-742268255584}"/>
                </a:ext>
              </a:extLst>
            </p:cNvPr>
            <p:cNvSpPr txBox="1"/>
            <p:nvPr/>
          </p:nvSpPr>
          <p:spPr>
            <a:xfrm>
              <a:off x="7344597" y="1443789"/>
              <a:ext cx="1031560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Société Générale Assurances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Analyste Conformité Audit &amp; Qualité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Alternance 1 an</a:t>
              </a:r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883079C2-1D82-A908-1369-C57359103FCE}"/>
              </a:ext>
            </a:extLst>
          </p:cNvPr>
          <p:cNvSpPr txBox="1"/>
          <p:nvPr/>
        </p:nvSpPr>
        <p:spPr>
          <a:xfrm>
            <a:off x="6528225" y="1935309"/>
            <a:ext cx="1175977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Participation aux missions de commissariat aux comptes</a:t>
            </a:r>
          </a:p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Contribution aux contrôles internes sur processus clés</a:t>
            </a:r>
          </a:p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Collecte et analyse des éléments probants aux auditeurs</a:t>
            </a:r>
          </a:p>
          <a:p>
            <a:pPr marL="1085850" lvl="2" indent="-171450">
              <a:spcBef>
                <a:spcPts val="0"/>
              </a:spcBef>
              <a:buChar char="•"/>
            </a:pPr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E921FD2F-BA51-28AE-1554-F0C1EFE9C7A3}"/>
              </a:ext>
            </a:extLst>
          </p:cNvPr>
          <p:cNvGrpSpPr/>
          <p:nvPr/>
        </p:nvGrpSpPr>
        <p:grpSpPr>
          <a:xfrm>
            <a:off x="7042890" y="2855309"/>
            <a:ext cx="8762873" cy="323165"/>
            <a:chOff x="7041235" y="2855309"/>
            <a:chExt cx="8762873" cy="323165"/>
          </a:xfrm>
        </p:grpSpPr>
        <p:pic>
          <p:nvPicPr>
            <p:cNvPr id="2" name="Image 1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8519C49A-2302-306C-2917-16920A753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235" y="6479709"/>
              <a:ext cx="248601" cy="212244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38124D3F-6DA7-67AF-E3C2-99F9257F774B}"/>
                </a:ext>
              </a:extLst>
            </p:cNvPr>
            <p:cNvSpPr txBox="1"/>
            <p:nvPr/>
          </p:nvSpPr>
          <p:spPr>
            <a:xfrm>
              <a:off x="7380694" y="6433983"/>
              <a:ext cx="84234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LEONI Mateur Sud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Contrôleur de gestion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Stage 3 mois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8E1A7C64-563D-723F-0815-7E2B89689351}"/>
              </a:ext>
            </a:extLst>
          </p:cNvPr>
          <p:cNvSpPr txBox="1"/>
          <p:nvPr/>
        </p:nvSpPr>
        <p:spPr>
          <a:xfrm>
            <a:off x="6528225" y="3178474"/>
            <a:ext cx="11759775" cy="171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Suivi et analyse des indicateurs de performance industrielle</a:t>
            </a:r>
          </a:p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Participation aux réunions QRQC et reportings mensuels</a:t>
            </a:r>
          </a:p>
          <a:p>
            <a:pPr marL="1085850" lvl="2" indent="-171450">
              <a:spcBef>
                <a:spcPts val="0"/>
              </a:spcBef>
              <a:buChar char="•"/>
            </a:pPr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5D72AF6-6CC2-72E0-4B85-55D34AEB1410}"/>
              </a:ext>
            </a:extLst>
          </p:cNvPr>
          <p:cNvGrpSpPr/>
          <p:nvPr/>
        </p:nvGrpSpPr>
        <p:grpSpPr>
          <a:xfrm>
            <a:off x="7042890" y="3838474"/>
            <a:ext cx="8762873" cy="323165"/>
            <a:chOff x="7041235" y="3838474"/>
            <a:chExt cx="8762873" cy="323165"/>
          </a:xfrm>
        </p:grpSpPr>
        <p:pic>
          <p:nvPicPr>
            <p:cNvPr id="13" name="Image 12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40BD59D1-81A5-DF66-EF05-5D4F46C36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235" y="6479709"/>
              <a:ext cx="248601" cy="212244"/>
            </a:xfrm>
            <a:prstGeom prst="rect">
              <a:avLst/>
            </a:prstGeom>
          </p:spPr>
        </p:pic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0390267-ABC5-E5DC-C72D-51352886D768}"/>
                </a:ext>
              </a:extLst>
            </p:cNvPr>
            <p:cNvSpPr txBox="1"/>
            <p:nvPr/>
          </p:nvSpPr>
          <p:spPr>
            <a:xfrm>
              <a:off x="7380694" y="6433983"/>
              <a:ext cx="84234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EVERIENCE Tunis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Spécialiste Reporting et Support Technique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3 ans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F966A108-DDD2-48FD-1EEB-9829A6D9BABD}"/>
              </a:ext>
            </a:extLst>
          </p:cNvPr>
          <p:cNvSpPr txBox="1"/>
          <p:nvPr/>
        </p:nvSpPr>
        <p:spPr>
          <a:xfrm>
            <a:off x="6528225" y="4161639"/>
            <a:ext cx="11759775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Production de 35 reportings de performance mensuels</a:t>
            </a:r>
          </a:p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Élaboration de présentations analytiques et fiabilisation</a:t>
            </a:r>
          </a:p>
          <a:p>
            <a:pPr marL="1085850" lvl="2" indent="-171450">
              <a:spcBef>
                <a:spcPts val="0"/>
              </a:spcBef>
              <a:buChar char="•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89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4FFB-8EF2-5AFD-D824-34E8AEFC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57C653-9F9C-4DA7-A674-55FB130512D9}"/>
              </a:ext>
            </a:extLst>
          </p:cNvPr>
          <p:cNvSpPr/>
          <p:nvPr/>
        </p:nvSpPr>
        <p:spPr>
          <a:xfrm>
            <a:off x="0" y="0"/>
            <a:ext cx="6025416" cy="10287000"/>
          </a:xfrm>
          <a:prstGeom prst="rect">
            <a:avLst/>
          </a:prstGeom>
          <a:solidFill>
            <a:srgbClr val="0842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8B41FA-34C6-4572-B2EC-7B5F388D0D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0599" y="3020815"/>
            <a:ext cx="5784217" cy="1873045"/>
          </a:xfrm>
        </p:spPr>
        <p:txBody>
          <a:bodyPr/>
          <a:lstStyle/>
          <a:p>
            <a:r>
              <a:rPr lang="fr-FR" sz="1800" dirty="0" b="1">
                <a:solidFill>
                  <a:schemeClr val="bg1"/>
                </a:solidFill>
                <a:latin typeface="+mn-lt"/>
              </a:rPr>
              <a:t>FORMATION</a:t>
            </a:r>
          </a:p>
          <a:p>
            <a:endParaRPr lang="fr-FR" sz="1800" b="1" dirty="0">
              <a:solidFill>
                <a:schemeClr val="bg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Master 2 - Audit &amp; Contrôle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Certificat Formation Assurance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Licence Gestion Finance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BD4D85-21A1-2A65-C690-1BFD7E24AEF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41200" y="5243720"/>
            <a:ext cx="4859999" cy="2120261"/>
          </a:xfrm>
        </p:spPr>
        <p:txBody>
          <a:bodyPr/>
          <a:lstStyle/>
          <a:p>
            <a:r>
              <a:rPr lang="fr-FR" sz="1800" dirty="0" b="1">
                <a:solidFill>
                  <a:schemeClr val="bg1"/>
                </a:solidFill>
                <a:latin typeface="+mn-lt"/>
              </a:rPr>
              <a:t>OUTILS MAITRISES</a:t>
            </a:r>
          </a:p>
          <a:p>
            <a:endParaRPr lang="fr-FR" sz="1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Excel avancé /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Power BI (débutant) / VBA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SAP SEM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3A0FE2-5845-8D12-8D37-7FA74EC069A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41199" y="7429840"/>
            <a:ext cx="4860000" cy="2120261"/>
          </a:xfrm>
        </p:spPr>
        <p:txBody>
          <a:bodyPr/>
          <a:lstStyle/>
          <a:p>
            <a:endParaRPr lang="fr-FR" sz="1800" b="1" dirty="0">
              <a:solidFill>
                <a:schemeClr val="bg1"/>
              </a:solidFill>
            </a:endParaRPr>
          </a:p>
          <a:p>
            <a:r>
              <a:rPr lang="fr-FR" sz="1800" dirty="0" b="1">
                <a:solidFill>
                  <a:schemeClr val="bg1"/>
                </a:solidFill>
                <a:latin typeface="+mn-lt"/>
              </a:rPr>
              <a:t>APTITUDES</a:t>
            </a:r>
          </a:p>
          <a:p>
            <a:endParaRPr lang="fr-FR" sz="1350" dirty="0">
              <a:solidFill>
                <a:schemeClr val="bg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Rigueur et sens du détail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Esprit analytique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chemeClr val="bg1"/>
                </a:solidFill>
                <a:latin typeface="+mn-lt"/>
              </a:rPr>
              <a:t>Travail en équipe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FB6A9D1-342A-0A58-FDF0-5388674B700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259025" y="394874"/>
            <a:ext cx="9298524" cy="369332"/>
          </a:xfrm>
        </p:spPr>
        <p:txBody>
          <a:bodyPr/>
          <a:lstStyle/>
          <a:p>
            <a:r>
              <a:rPr lang="fr-FR" dirty="0"/>
              <a:t>COMPETENCES CLÉS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78CE8FF-1A37-590C-3C6D-16E3A8BB53F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53387" y="842853"/>
            <a:ext cx="10921880" cy="50488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sz="1300" dirty="0" b="1">
                <a:solidFill>
                  <a:srgbClr val="43CEFF"/>
                </a:solidFill>
                <a:latin typeface="+mn-lt"/>
              </a:rPr>
              <a:t>Contrôle interne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1300" dirty="0" b="1">
                <a:solidFill>
                  <a:srgbClr val="43CEFF"/>
                </a:solidFill>
                <a:latin typeface="+mn-lt"/>
              </a:rPr>
              <a:t>Analyse des risques Reporting financier</a:t>
            </a:r>
          </a:p>
          <a:p>
            <a:pPr marL="0" indent="0">
              <a:spcBef>
                <a:spcPts val="0"/>
              </a:spcBef>
              <a:buNone/>
            </a:pPr>
            <a:endParaRPr lang="fr-FR" sz="1350" b="1" dirty="0">
              <a:solidFill>
                <a:srgbClr val="43CEFF"/>
              </a:solidFill>
            </a:endParaRPr>
          </a:p>
        </p:txBody>
      </p:sp>
      <p:pic>
        <p:nvPicPr>
          <p:cNvPr id="9" name="Image 8" descr="Une image contenant Graphique, symbole&#10;&#10;Description générée automatiquement">
            <a:extLst>
              <a:ext uri="{FF2B5EF4-FFF2-40B4-BE49-F238E27FC236}">
                <a16:creationId xmlns:a16="http://schemas.microsoft.com/office/drawing/2014/main" id="{FD3C5F65-2C6D-41D8-4E1C-DA29149430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9" y="369381"/>
            <a:ext cx="625758" cy="534243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14641567-B85D-FD37-99D7-5684BE1C8802}"/>
              </a:ext>
            </a:extLst>
          </p:cNvPr>
          <p:cNvSpPr txBox="1">
            <a:spLocks/>
          </p:cNvSpPr>
          <p:nvPr/>
        </p:nvSpPr>
        <p:spPr>
          <a:xfrm>
            <a:off x="241199" y="1366942"/>
            <a:ext cx="5684115" cy="143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rgbClr val="08428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000" dirty="0">
                <a:solidFill>
                  <a:schemeClr val="bg1"/>
                </a:solidFill>
                <a:latin typeface="+mn-lt"/>
              </a:rPr>
              <a:t>Farah</a:t>
            </a:r>
          </a:p>
          <a:p>
            <a:pPr algn="l"/>
            <a:r>
              <a:rPr lang="fr-FR" sz="2000" dirty="0">
                <a:solidFill>
                  <a:schemeClr val="bg1"/>
                </a:solidFill>
                <a:latin typeface="+mn-lt"/>
              </a:rPr>
              <a:t>Analyste Audit &amp; Conformité (2/2)</a:t>
            </a:r>
            <a:endParaRPr lang="fr-FR" sz="5400" dirty="0">
              <a:solidFill>
                <a:schemeClr val="bg1"/>
              </a:solidFill>
              <a:latin typeface="+mn-lt"/>
            </a:endParaRPr>
          </a:p>
          <a:p>
            <a:pPr algn="l"/>
            <a:r>
              <a:rPr lang="fr-FR" sz="1600" dirty="0" i="1">
                <a:solidFill>
                  <a:srgbClr val="43CEFF"/>
                </a:solidFill>
                <a:latin typeface="+mn-lt"/>
              </a:rPr>
              <a:t>3 ans d'expériences en Analyste Audit &amp; Conformité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7E33102-1947-25A2-0A3D-A2FF199B7688}"/>
              </a:ext>
            </a:extLst>
          </p:cNvPr>
          <p:cNvGrpSpPr/>
          <p:nvPr/>
        </p:nvGrpSpPr>
        <p:grpSpPr>
          <a:xfrm>
            <a:off x="7042890" y="1443789"/>
            <a:ext cx="10617312" cy="323165"/>
            <a:chOff x="7042890" y="1443789"/>
            <a:chExt cx="10617312" cy="323165"/>
          </a:xfrm>
        </p:grpSpPr>
        <p:pic>
          <p:nvPicPr>
            <p:cNvPr id="31" name="Image 30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CFAD0449-7DBD-1090-B341-BC10C44A8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2890" y="1496086"/>
              <a:ext cx="248601" cy="212244"/>
            </a:xfrm>
            <a:prstGeom prst="rect">
              <a:avLst/>
            </a:prstGeom>
          </p:spPr>
        </p:pic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983C753A-C171-E329-BD8B-742268255584}"/>
                </a:ext>
              </a:extLst>
            </p:cNvPr>
            <p:cNvSpPr txBox="1"/>
            <p:nvPr/>
          </p:nvSpPr>
          <p:spPr>
            <a:xfrm>
              <a:off x="7344597" y="1443789"/>
              <a:ext cx="1031560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COFIDIS Tunis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Chargée de contrôle bancaire</a:t>
              </a:r>
              <a:r>
                <a:rPr kumimoji="0" lang="fr-FR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2A6D"/>
                  </a:solidFill>
                  <a:effectLst/>
                  <a:uLnTx/>
                  <a:uFillTx/>
                  <a:latin typeface="Montserrat" panose="00000500000000000000" pitchFamily="2" charset="0"/>
                </a:rPr>
                <a:t> – </a:t>
              </a:r>
              <a:r>
                <a:rPr lang="fr-FR" sz="1500" b="1" dirty="0">
                  <a:solidFill>
                    <a:srgbClr val="002A6D"/>
                  </a:solidFill>
                  <a:latin typeface="Montserrat" panose="00000500000000000000" pitchFamily="2" charset="0"/>
                </a:rPr>
                <a:t>2 ans</a:t>
              </a:r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883079C2-1D82-A908-1369-C57359103FCE}"/>
              </a:ext>
            </a:extLst>
          </p:cNvPr>
          <p:cNvSpPr txBox="1"/>
          <p:nvPr/>
        </p:nvSpPr>
        <p:spPr>
          <a:xfrm>
            <a:off x="6528225" y="1935309"/>
            <a:ext cx="1175977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Vérification de la conformité des dossiers clients</a:t>
            </a:r>
          </a:p>
          <a:p>
            <a:pPr marL="1085850" lvl="2" indent="-171450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Contribution aux contrôles réglementaires internes</a:t>
            </a:r>
          </a:p>
          <a:p>
            <a:pPr marL="1085850" lvl="2" indent="-171450">
              <a:spcBef>
                <a:spcPts val="0"/>
              </a:spcBef>
              <a:buChar char="•"/>
            </a:pPr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E921FD2F-BA51-28AE-1554-F0C1EFE9C7A3}"/>
              </a:ext>
            </a:extLst>
          </p:cNvPr>
          <p:cNvGrpSpPr/>
          <p:nvPr/>
        </p:nvGrpSpPr>
        <p:grpSpPr>
          <a:xfrm>
            <a:off x="7042890" y="99999999"/>
            <a:ext cx="8762873" cy="323165"/>
            <a:chOff x="7041235" y="99999999"/>
            <a:chExt cx="8762873" cy="323165"/>
          </a:xfrm>
        </p:grpSpPr>
        <p:pic>
          <p:nvPicPr>
            <p:cNvPr id="2" name="Image 1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8519C49A-2302-306C-2917-16920A753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235" y="6479709"/>
              <a:ext cx="248601" cy="212244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38124D3F-6DA7-67AF-E3C2-99F9257F774B}"/>
                </a:ext>
              </a:extLst>
            </p:cNvPr>
            <p:cNvSpPr txBox="1"/>
            <p:nvPr/>
          </p:nvSpPr>
          <p:spPr>
            <a:xfrm>
              <a:off x="7380694" y="6433983"/>
              <a:ext cx="84234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500" b="1" dirty="0">
                  <a:solidFill>
                    <a:srgbClr val="002A6D"/>
                  </a:solidFill>
                </a:rPr>
                <a:t>RSM France – Senior Expertise Comptable – 3 ans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8E1A7C64-563D-723F-0815-7E2B89689351}"/>
              </a:ext>
            </a:extLst>
          </p:cNvPr>
          <p:cNvSpPr txBox="1"/>
          <p:nvPr/>
        </p:nvSpPr>
        <p:spPr>
          <a:xfrm>
            <a:off x="6528225" y="99999999"/>
            <a:ext cx="11759775" cy="171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Renforcement d’équipes comptables des clients (responsable comptable, comptable général)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Tenue et révision des comptes jusqu’à la production des liasses fiscales et liasses d’intégration fiscale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Production et revue des déclarations fiscales périodiques ( TVA, IS, CFE, CVAE, TS, TVS, DAS2, C3S)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Établissement des comptes annuels : bilan, compte de résultat, annexe, 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Production de s </a:t>
            </a:r>
            <a:r>
              <a:rPr lang="fr-FR" sz="11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reportings</a:t>
            </a: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externes (ACPR, banque de France)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Gestion de la relation avec les CAC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Veille fiscale et comptable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Rédaction de procédures et de modes opératoires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5D72AF6-6CC2-72E0-4B85-55D34AEB1410}"/>
              </a:ext>
            </a:extLst>
          </p:cNvPr>
          <p:cNvGrpSpPr/>
          <p:nvPr/>
        </p:nvGrpSpPr>
        <p:grpSpPr>
          <a:xfrm>
            <a:off x="7042890" y="99999999"/>
            <a:ext cx="8762873" cy="323165"/>
            <a:chOff x="7041235" y="99999999"/>
            <a:chExt cx="8762873" cy="323165"/>
          </a:xfrm>
        </p:grpSpPr>
        <p:pic>
          <p:nvPicPr>
            <p:cNvPr id="13" name="Image 12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40BD59D1-81A5-DF66-EF05-5D4F46C36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235" y="6479709"/>
              <a:ext cx="248601" cy="212244"/>
            </a:xfrm>
            <a:prstGeom prst="rect">
              <a:avLst/>
            </a:prstGeom>
          </p:spPr>
        </p:pic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0390267-ABC5-E5DC-C72D-51352886D768}"/>
                </a:ext>
              </a:extLst>
            </p:cNvPr>
            <p:cNvSpPr txBox="1"/>
            <p:nvPr/>
          </p:nvSpPr>
          <p:spPr>
            <a:xfrm>
              <a:off x="7380694" y="6433983"/>
              <a:ext cx="84234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500" b="1" dirty="0">
                  <a:solidFill>
                    <a:srgbClr val="002A6D"/>
                  </a:solidFill>
                </a:rPr>
                <a:t>EXPERT- INNOV – Chef de mission expertise comptable – 2 ans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F966A108-DDD2-48FD-1EEB-9829A6D9BABD}"/>
              </a:ext>
            </a:extLst>
          </p:cNvPr>
          <p:cNvSpPr txBox="1"/>
          <p:nvPr/>
        </p:nvSpPr>
        <p:spPr>
          <a:xfrm>
            <a:off x="6528225" y="99999999"/>
            <a:ext cx="11759775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rPr>
              <a:t>Gestion d’un portefeuille clients diversifié en tenue et révision des comptes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rPr>
              <a:t>Analyse et justification des comptes de clôture 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rPr>
              <a:t>Établissement des déclarations fiscales courantes (TVA, IS, CVAE, CFE, TVS, TS, DAS2, C3S)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rPr>
              <a:t>Production des états financiers et  liasses fiscales 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rPr>
              <a:t>Gestion de la relation avec les CAC</a:t>
            </a:r>
          </a:p>
          <a:p>
            <a:pPr marL="1085850" lvl="2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rPr>
              <a:t>Veille fiscale et comptable</a:t>
            </a:r>
          </a:p>
        </p:txBody>
      </p:sp>
    </p:spTree>
    <p:extLst>
      <p:ext uri="{BB962C8B-B14F-4D97-AF65-F5344CB8AC3E}">
        <p14:creationId xmlns:p14="http://schemas.microsoft.com/office/powerpoint/2010/main" val="407989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lice V4F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A6E49FFE23D44E89DC49D8EE222EA7" ma:contentTypeVersion="12" ma:contentTypeDescription="Crée un document." ma:contentTypeScope="" ma:versionID="0a87652c76f4a9aec50ef0f1c8afe45a">
  <xsd:schema xmlns:xsd="http://www.w3.org/2001/XMLSchema" xmlns:xs="http://www.w3.org/2001/XMLSchema" xmlns:p="http://schemas.microsoft.com/office/2006/metadata/properties" xmlns:ns2="98fcb858-e751-4f31-a038-d199690e0c70" xmlns:ns3="92aee157-ef1c-4c4e-87a9-3a4f0e23b540" targetNamespace="http://schemas.microsoft.com/office/2006/metadata/properties" ma:root="true" ma:fieldsID="ad91292021f62ca789f15022b42abfa3" ns2:_="" ns3:_="">
    <xsd:import namespace="98fcb858-e751-4f31-a038-d199690e0c70"/>
    <xsd:import namespace="92aee157-ef1c-4c4e-87a9-3a4f0e23b5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fcb858-e751-4f31-a038-d199690e0c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30e76a65-00c3-46b0-a7f0-89a41a5fa0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aee157-ef1c-4c4e-87a9-3a4f0e23b54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5af7b39-e43f-469c-955e-a2808d325b60}" ma:internalName="TaxCatchAll" ma:showField="CatchAllData" ma:web="92aee157-ef1c-4c4e-87a9-3a4f0e23b5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fcb858-e751-4f31-a038-d199690e0c70">
      <Terms xmlns="http://schemas.microsoft.com/office/infopath/2007/PartnerControls"/>
    </lcf76f155ced4ddcb4097134ff3c332f>
    <TaxCatchAll xmlns="92aee157-ef1c-4c4e-87a9-3a4f0e23b540" xsi:nil="true"/>
  </documentManagement>
</p:properties>
</file>

<file path=customXml/itemProps1.xml><?xml version="1.0" encoding="utf-8"?>
<ds:datastoreItem xmlns:ds="http://schemas.openxmlformats.org/officeDocument/2006/customXml" ds:itemID="{90794775-ACFA-465D-BCC6-B62DE88FC4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fcb858-e751-4f31-a038-d199690e0c70"/>
    <ds:schemaRef ds:uri="92aee157-ef1c-4c4e-87a9-3a4f0e23b5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4307F9-8942-487D-9EF5-6086C9FA49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BAAE4C-35E2-4480-9F7A-A708AACCFD53}">
  <ds:schemaRefs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4a8e90d-6aeb-43cb-88b9-21d6411033c4"/>
    <ds:schemaRef ds:uri="http://schemas.microsoft.com/office/2006/metadata/properties"/>
    <ds:schemaRef ds:uri="98fcb858-e751-4f31-a038-d199690e0c70"/>
    <ds:schemaRef ds:uri="92aee157-ef1c-4c4e-87a9-3a4f0e23b54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753</Words>
  <Application>Microsoft Office PowerPoint</Application>
  <PresentationFormat>Personnalisé</PresentationFormat>
  <Paragraphs>111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Office Theme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V4F - Presentation Générique.pdf</dc:title>
  <dc:creator>Anas TOUMI</dc:creator>
  <cp:lastModifiedBy>Yanis Lassiri</cp:lastModifiedBy>
  <cp:revision>68</cp:revision>
  <dcterms:created xsi:type="dcterms:W3CDTF">2006-08-16T00:00:00Z</dcterms:created>
  <dcterms:modified xsi:type="dcterms:W3CDTF">2025-04-03T10:13:18Z</dcterms:modified>
  <dc:identifier>DAGUMcz4deo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0x0101007FA6E49FFE23D44E89DC49D8EE222EA7</vt:lpwstr>
  </property>
  <property fmtid="{D5CDD505-2E9C-101B-9397-08002B2CF9AE}" pid="3" name="MediaServiceImageTags">
    <vt:lpwstr/>
  </property>
</Properties>
</file>